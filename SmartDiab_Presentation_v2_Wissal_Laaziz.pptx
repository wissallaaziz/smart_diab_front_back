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312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61F10"/>
          </a:solidFill>
          <a:ln w="12700">
            <a:solidFill>
              <a:srgbClr val="061F1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0C06B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1371600" y="640080"/>
            <a:ext cx="1371600" cy="13716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8229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945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SmartDiab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74320" y="2971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alimentaire intelligente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diabétiques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356616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274320" y="3931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Wissal Laaziz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M. Bousmah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502920"/>
            <a:ext cx="4206240" cy="777240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" name="Text 8"/>
          <p:cNvSpPr/>
          <p:nvPr/>
        </p:nvSpPr>
        <p:spPr>
          <a:xfrm>
            <a:off x="4709160" y="5577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0916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e-Health / IA Mobile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0" y="1554480"/>
            <a:ext cx="4206240" cy="777240"/>
          </a:xfrm>
          <a:prstGeom prst="rect">
            <a:avLst/>
          </a:prstGeom>
          <a:solidFill>
            <a:srgbClr val="0A2015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4" name="Text 11"/>
          <p:cNvSpPr/>
          <p:nvPr/>
        </p:nvSpPr>
        <p:spPr>
          <a:xfrm>
            <a:off x="4709160" y="16093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09160" y="1828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(Java)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0" y="2606040"/>
            <a:ext cx="4206240" cy="777240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7" name="Text 14"/>
          <p:cNvSpPr/>
          <p:nvPr/>
        </p:nvSpPr>
        <p:spPr>
          <a:xfrm>
            <a:off x="4709160" y="26609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0916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0" y="3657600"/>
            <a:ext cx="4206240" cy="777240"/>
          </a:xfrm>
          <a:prstGeom prst="rect">
            <a:avLst/>
          </a:prstGeom>
          <a:solidFill>
            <a:srgbClr val="0A2015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4709160" y="3712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09160" y="3931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251960" y="4663440"/>
            <a:ext cx="4663440" cy="347472"/>
          </a:xfrm>
          <a:prstGeom prst="rect">
            <a:avLst/>
          </a:prstGeom>
          <a:solidFill>
            <a:srgbClr val="3D0000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4251960" y="46634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Ne remplace pas votre médecin</a:t>
            </a:r>
            <a:endParaRPr lang="en-US" sz="1000" dirty="0"/>
          </a:p>
        </p:txBody>
      </p:sp>
      <p:pic>
        <p:nvPicPr>
          <p:cNvPr id="24" name="Image 23" descr="Fichier:Emsi logo.jpg">
            <a:extLst>
              <a:ext uri="{FF2B5EF4-FFF2-40B4-BE49-F238E27FC236}">
                <a16:creationId xmlns:a16="http://schemas.microsoft.com/office/drawing/2014/main" id="{D2862A67-5802-EF25-A45B-B51B4231C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641106"/>
            <a:ext cx="190500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201168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C0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537M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diabétiques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monde (IDF 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15568"/>
            <a:ext cx="5577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1978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49040" y="11795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alimentaire quotidienne complexe et contraignante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0" y="1737360"/>
            <a:ext cx="5577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8196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801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existantes trop génériques, peu personnalisées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00400" y="2359152"/>
            <a:ext cx="5577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4414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fastidieuse des aliments consommés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200400" y="2980944"/>
            <a:ext cx="5577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30632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49040" y="30449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d'adaptation au type de diabète (Type 1 / Type 2)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Text 14"/>
          <p:cNvSpPr/>
          <p:nvPr/>
        </p:nvSpPr>
        <p:spPr>
          <a:xfrm>
            <a:off x="502920" y="370332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Problématique 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aider les diabétiques à évaluer instantanément la compatibilité d'un repas avec leur profil médical, grâce au mobile et à l'IA 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Proposée — SmartDiab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0020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09728" cy="1600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075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8930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&amp; connexion via Firebase Authentication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743200" cy="160020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109728" cy="1600200"/>
          </a:xfrm>
          <a:prstGeom prst="rect">
            <a:avLst/>
          </a:prstGeom>
          <a:solidFill>
            <a:srgbClr val="0D5C8A"/>
          </a:solidFill>
          <a:ln w="12700">
            <a:solidFill>
              <a:srgbClr val="0D5C8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30759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28930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médical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du type de diabète (Type 1 / Type 2)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43000"/>
            <a:ext cx="2743200" cy="160020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5" name="Shape 11"/>
          <p:cNvSpPr/>
          <p:nvPr/>
        </p:nvSpPr>
        <p:spPr>
          <a:xfrm>
            <a:off x="6126480" y="1143000"/>
            <a:ext cx="109728" cy="160020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30759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128930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repas en temps réel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du plat via caméra → analyse IA instantanée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5"/>
          <p:cNvSpPr/>
          <p:nvPr/>
        </p:nvSpPr>
        <p:spPr>
          <a:xfrm>
            <a:off x="274320" y="3017520"/>
            <a:ext cx="109728" cy="16002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18211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1638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alimentaire IA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d'analyse + modèle ML → recommandation personnalisée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3017520"/>
            <a:ext cx="2743200" cy="160020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5" name="Shape 19"/>
          <p:cNvSpPr/>
          <p:nvPr/>
        </p:nvSpPr>
        <p:spPr>
          <a:xfrm>
            <a:off x="3200400" y="3017520"/>
            <a:ext cx="109728" cy="1600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18211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1638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animé Lottie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interactif pour une UX engageante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743200" cy="160020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0" name="Shape 23"/>
          <p:cNvSpPr/>
          <p:nvPr/>
        </p:nvSpPr>
        <p:spPr>
          <a:xfrm>
            <a:off x="6126480" y="3017520"/>
            <a:ext cx="109728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182112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76288" y="31638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des données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+ Firebase Storage pour les images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4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F10"/>
          </a:solidFill>
          <a:ln w="12700">
            <a:solidFill>
              <a:srgbClr val="061F1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ça fonctionne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097280" cy="10972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89888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0160" y="1115568"/>
            <a:ext cx="347472" cy="347472"/>
          </a:xfrm>
          <a:prstGeom prst="ellipse">
            <a:avLst/>
          </a:prstGeom>
          <a:solidFill>
            <a:srgbClr val="00C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4"/>
          <p:cNvSpPr/>
          <p:nvPr/>
        </p:nvSpPr>
        <p:spPr>
          <a:xfrm>
            <a:off x="128016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45920" y="1737360"/>
            <a:ext cx="502920" cy="0"/>
          </a:xfrm>
          <a:prstGeom prst="line">
            <a:avLst/>
          </a:prstGeom>
          <a:noFill/>
          <a:ln w="25400">
            <a:solidFill>
              <a:srgbClr val="00C06B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2020824" y="160934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06B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Connexion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67128" y="1188720"/>
            <a:ext cx="1097280" cy="10972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1389888"/>
            <a:ext cx="685800" cy="685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44368" y="1115568"/>
            <a:ext cx="347472" cy="347472"/>
          </a:xfrm>
          <a:prstGeom prst="ellipse">
            <a:avLst/>
          </a:prstGeom>
          <a:solidFill>
            <a:srgbClr val="00C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0"/>
          <p:cNvSpPr/>
          <p:nvPr/>
        </p:nvSpPr>
        <p:spPr>
          <a:xfrm>
            <a:off x="2944368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10128" y="1737360"/>
            <a:ext cx="502920" cy="0"/>
          </a:xfrm>
          <a:prstGeom prst="line">
            <a:avLst/>
          </a:prstGeom>
          <a:noFill/>
          <a:ln w="25400">
            <a:solidFill>
              <a:srgbClr val="00C06B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2"/>
          <p:cNvSpPr/>
          <p:nvPr/>
        </p:nvSpPr>
        <p:spPr>
          <a:xfrm>
            <a:off x="3685032" y="160934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06B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075688" y="2423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831336" y="1188720"/>
            <a:ext cx="1097280" cy="10972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504" y="1389888"/>
            <a:ext cx="685800" cy="6858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608576" y="1115568"/>
            <a:ext cx="347472" cy="347472"/>
          </a:xfrm>
          <a:prstGeom prst="ellipse">
            <a:avLst/>
          </a:prstGeom>
          <a:solidFill>
            <a:srgbClr val="00C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6"/>
          <p:cNvSpPr/>
          <p:nvPr/>
        </p:nvSpPr>
        <p:spPr>
          <a:xfrm>
            <a:off x="4608576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974336" y="1737360"/>
            <a:ext cx="502920" cy="0"/>
          </a:xfrm>
          <a:prstGeom prst="line">
            <a:avLst/>
          </a:prstGeom>
          <a:noFill/>
          <a:ln w="25400">
            <a:solidFill>
              <a:srgbClr val="00C06B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18"/>
          <p:cNvSpPr/>
          <p:nvPr/>
        </p:nvSpPr>
        <p:spPr>
          <a:xfrm>
            <a:off x="5349240" y="160934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06B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739896" y="2423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repas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95544" y="1188720"/>
            <a:ext cx="1097280" cy="10972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712" y="1389888"/>
            <a:ext cx="685800" cy="6858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272784" y="1115568"/>
            <a:ext cx="347472" cy="347472"/>
          </a:xfrm>
          <a:prstGeom prst="ellipse">
            <a:avLst/>
          </a:prstGeom>
          <a:solidFill>
            <a:srgbClr val="00C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Text 22"/>
          <p:cNvSpPr/>
          <p:nvPr/>
        </p:nvSpPr>
        <p:spPr>
          <a:xfrm>
            <a:off x="6272784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638544" y="1737360"/>
            <a:ext cx="502920" cy="0"/>
          </a:xfrm>
          <a:prstGeom prst="line">
            <a:avLst/>
          </a:prstGeom>
          <a:noFill/>
          <a:ln w="25400">
            <a:solidFill>
              <a:srgbClr val="00C06B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30" name="Text 24"/>
          <p:cNvSpPr/>
          <p:nvPr/>
        </p:nvSpPr>
        <p:spPr>
          <a:xfrm>
            <a:off x="7013448" y="160934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06B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04104" y="2423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159752" y="1188720"/>
            <a:ext cx="1097280" cy="10972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00C0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1389888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936992" y="1115568"/>
            <a:ext cx="347472" cy="347472"/>
          </a:xfrm>
          <a:prstGeom prst="ellipse">
            <a:avLst/>
          </a:prstGeom>
          <a:solidFill>
            <a:srgbClr val="00C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28"/>
          <p:cNvSpPr/>
          <p:nvPr/>
        </p:nvSpPr>
        <p:spPr>
          <a:xfrm>
            <a:off x="7936992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068312" y="2423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personnalisé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548640" y="3291840"/>
            <a:ext cx="256032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8" name="Text 31"/>
          <p:cNvSpPr/>
          <p:nvPr/>
        </p:nvSpPr>
        <p:spPr>
          <a:xfrm>
            <a:off x="548640" y="329184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Autorisé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3383280" y="3291840"/>
            <a:ext cx="2560320" cy="749808"/>
          </a:xfrm>
          <a:prstGeom prst="rect">
            <a:avLst/>
          </a:prstGeom>
          <a:solidFill>
            <a:srgbClr val="3D2100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0" name="Text 33"/>
          <p:cNvSpPr/>
          <p:nvPr/>
        </p:nvSpPr>
        <p:spPr>
          <a:xfrm>
            <a:off x="3383280" y="329184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Avec modération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6217920" y="3291840"/>
            <a:ext cx="2560320" cy="749808"/>
          </a:xfrm>
          <a:prstGeom prst="rect">
            <a:avLst/>
          </a:prstGeom>
          <a:solidFill>
            <a:srgbClr val="3D0000"/>
          </a:solidFill>
          <a:ln w="12700">
            <a:solidFill>
              <a:srgbClr val="D32F2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2" name="Text 35"/>
          <p:cNvSpPr/>
          <p:nvPr/>
        </p:nvSpPr>
        <p:spPr>
          <a:xfrm>
            <a:off x="6217920" y="329184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À éviter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affiché selon le profil diabétique de l'utilisateur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&amp; Conception — Diagramme de Cas d'Utilisation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379476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S'inscrire / Se connecter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Remplir le questionnaire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Scanner un repas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Consulter le résultat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Consulter l'historique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déconnecter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097280"/>
            <a:ext cx="5943600" cy="3794760"/>
          </a:xfrm>
          <a:prstGeom prst="rect">
            <a:avLst/>
          </a:prstGeom>
          <a:solidFill>
            <a:srgbClr val="F7F7F7"/>
          </a:solidFill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2834640" y="27660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Insérez votre Diagramme de Cas d'Utilisation ici ]</a:t>
            </a:r>
            <a:endParaRPr lang="en-US" sz="1200" dirty="0"/>
          </a:p>
        </p:txBody>
      </p:sp>
      <p:pic>
        <p:nvPicPr>
          <p:cNvPr id="14" name="Image 13" descr="PlantUML Diagram">
            <a:extLst>
              <a:ext uri="{FF2B5EF4-FFF2-40B4-BE49-F238E27FC236}">
                <a16:creationId xmlns:a16="http://schemas.microsoft.com/office/drawing/2014/main" id="{3CC761C7-D5E1-483D-ACD9-8CC945AC8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39" y="1097280"/>
            <a:ext cx="5992837" cy="3841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&amp; Conception — Diagramme de Classes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B9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principales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motDePasse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ProfilMédical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24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réponses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résultat, 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6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IG, 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097280"/>
            <a:ext cx="5943600" cy="3794760"/>
          </a:xfrm>
          <a:prstGeom prst="rect">
            <a:avLst/>
          </a:prstGeom>
          <a:solidFill>
            <a:srgbClr val="F7F7F7"/>
          </a:solidFill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2834640" y="27660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Insérez votre Diagramme de Classes ici ]</a:t>
            </a:r>
            <a:endParaRPr lang="en-US" sz="1200" dirty="0"/>
          </a:p>
        </p:txBody>
      </p:sp>
      <p:pic>
        <p:nvPicPr>
          <p:cNvPr id="16" name="Image 15" descr="PlantUML Diagram">
            <a:extLst>
              <a:ext uri="{FF2B5EF4-FFF2-40B4-BE49-F238E27FC236}">
                <a16:creationId xmlns:a16="http://schemas.microsoft.com/office/drawing/2014/main" id="{515D08F9-FCF3-28D9-A094-19E616C82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920" y="1098360"/>
            <a:ext cx="5989320" cy="3867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&amp; Conception — Diagramme d'Activité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3794760"/>
          </a:xfrm>
          <a:prstGeom prst="rect">
            <a:avLst/>
          </a:prstGeom>
          <a:solidFill>
            <a:srgbClr val="E8F4ED"/>
          </a:solidFill>
          <a:ln w="12700">
            <a:solidFill>
              <a:srgbClr val="A8D8B9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principal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Connexion utilisateur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Activation caméra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Capture du repas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Envoi au backend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Analyse 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Affichage résultat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34640" y="1097280"/>
            <a:ext cx="5943600" cy="3794760"/>
          </a:xfrm>
          <a:prstGeom prst="rect">
            <a:avLst/>
          </a:prstGeom>
          <a:solidFill>
            <a:srgbClr val="F7F7F7"/>
          </a:solidFill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2834640" y="27660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Insérez votre Diagramme d'Activité ici ]</a:t>
            </a:r>
            <a:endParaRPr lang="en-US" sz="1200" dirty="0"/>
          </a:p>
        </p:txBody>
      </p:sp>
      <p:pic>
        <p:nvPicPr>
          <p:cNvPr id="20" name="Image 19" descr="PlantUML Diagram">
            <a:extLst>
              <a:ext uri="{FF2B5EF4-FFF2-40B4-BE49-F238E27FC236}">
                <a16:creationId xmlns:a16="http://schemas.microsoft.com/office/drawing/2014/main" id="{A8DAEDE9-EB29-EB1B-9289-0E42C7DBC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40" y="1097280"/>
            <a:ext cx="5943599" cy="3854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Œuvre — Interfaces de l'Application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de Connexion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19"/>
            <a:ext cx="4114800" cy="3548575"/>
          </a:xfrm>
          <a:prstGeom prst="rect">
            <a:avLst/>
          </a:prstGeom>
          <a:solidFill>
            <a:srgbClr val="F7F7F7"/>
          </a:solidFill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20040" y="19431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— Écran de Connexion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320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47091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Médical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14800" cy="3548574"/>
          </a:xfrm>
          <a:prstGeom prst="rect">
            <a:avLst/>
          </a:prstGeom>
          <a:solidFill>
            <a:srgbClr val="F7F7F7"/>
          </a:solidFill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709160" y="19431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— Questionnaire Médical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7314" y="4042703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8633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8822463-440E-05A1-C5A9-81C1E047E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17321"/>
            <a:ext cx="4114800" cy="354857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BCFCF40B-A03C-2B0A-AE3C-A63D05D85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1" y="1417318"/>
            <a:ext cx="4114800" cy="3548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D6EAD8"/>
          </a:solidFill>
          <a:ln w="12700">
            <a:solidFill>
              <a:srgbClr val="1A6B3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28016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Couche Présentation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· Java · Lottie · Retrofit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051560"/>
          </a:xfrm>
          <a:prstGeom prst="rect">
            <a:avLst/>
          </a:prstGeom>
          <a:solidFill>
            <a:srgbClr val="D0E8F5"/>
          </a:solidFill>
          <a:ln w="12700">
            <a:solidFill>
              <a:srgbClr val="0D5C8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28016" cy="1051560"/>
          </a:xfrm>
          <a:prstGeom prst="rect">
            <a:avLst/>
          </a:prstGeom>
          <a:solidFill>
            <a:srgbClr val="0D5C8A"/>
          </a:solidFill>
          <a:ln w="12700">
            <a:solidFill>
              <a:srgbClr val="0D5C8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Couche Métier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Modèle IA · API Alimentaire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F5E6D0"/>
          </a:solidFill>
          <a:ln w="12700">
            <a:solidFill>
              <a:srgbClr val="7B3F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128016" cy="105156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Couche Données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04164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Firebase Storage · Firebase Auth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32004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5448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155448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8892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278892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2336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402336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525780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649224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26680" y="46177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4A2A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7726680" y="4617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3D22"/>
          </a:solidFill>
          <a:ln w="12700">
            <a:solidFill>
              <a:srgbClr val="0F3D22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657600" cy="45720"/>
          </a:xfrm>
          <a:prstGeom prst="rect">
            <a:avLst/>
          </a:prstGeom>
          <a:solidFill>
            <a:srgbClr val="00C06B"/>
          </a:solidFill>
          <a:ln w="12700">
            <a:solidFill>
              <a:srgbClr val="00C06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Authentification sécurisée opérationnelle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Détection du type de diabète par questionnaire 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Scan et analyse alimentaire en temps réel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Avatar animé Lottie intégré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Backend FastAPI REST fonctionnel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27632"/>
            <a:ext cx="3931920" cy="384048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Modèle ML propre (dataset local)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30552"/>
            <a:ext cx="3931920" cy="384048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4937760" y="2130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Support arabe / darija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633472"/>
            <a:ext cx="3931920" cy="384048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4937760" y="2633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Suivi glycémique intégré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36392"/>
            <a:ext cx="3931920" cy="384048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4937760" y="3136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intelligentes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639312"/>
            <a:ext cx="3931920" cy="384048"/>
          </a:xfrm>
          <a:prstGeom prst="rect">
            <a:avLst/>
          </a:prstGeom>
          <a:solidFill>
            <a:srgbClr val="122E1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4937760" y="3639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Version 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0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 🙏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3D0000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Cette application ne remplace pas votre médecin — Consultez toujours un professionnel de santé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508</Words>
  <Application>Microsoft Office PowerPoint</Application>
  <PresentationFormat>Affichage à l'écran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SmartDiab — Présentation du Projet</dc:title>
  <dc:subject>PptxGenJS Presentation</dc:subject>
  <dc:creator>Wissal Laaziz</dc:creator>
  <cp:lastModifiedBy>Wissal Laaziz</cp:lastModifiedBy>
  <cp:revision>2</cp:revision>
  <dcterms:created xsi:type="dcterms:W3CDTF">2026-05-20T22:03:16Z</dcterms:created>
  <dcterms:modified xsi:type="dcterms:W3CDTF">2026-05-20T23:03:15Z</dcterms:modified>
</cp:coreProperties>
</file>